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4" d="100"/>
          <a:sy n="74" d="100"/>
        </p:scale>
        <p:origin x="859" y="6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0" y="4055608"/>
            <a:ext cx="7621484" cy="395804"/>
          </a:xfrm>
        </p:spPr>
        <p:txBody>
          <a:bodyPr vert="horz" lIns="91440" tIns="45720" rIns="91440" bIns="45720" rtlCol="0" anchor="t">
            <a:normAutofit lnSpcReduction="10000"/>
          </a:bodyPr>
          <a:lstStyle/>
          <a:p>
            <a:pPr algn="r"/>
            <a:r>
              <a:rPr lang="en-US" dirty="0">
                <a:solidFill>
                  <a:schemeClr val="tx1"/>
                </a:solidFill>
              </a:rPr>
              <a:t>College Name</a:t>
            </a:r>
            <a:r>
              <a:rPr lang="en-US" b="0" dirty="0">
                <a:solidFill>
                  <a:schemeClr val="tx1"/>
                </a:solidFill>
              </a:rPr>
              <a:t>-Sanjivani College Of </a:t>
            </a:r>
            <a:r>
              <a:rPr lang="en-US" b="0" dirty="0" err="1">
                <a:solidFill>
                  <a:schemeClr val="tx1"/>
                </a:solidFill>
              </a:rPr>
              <a:t>Enginnering</a:t>
            </a:r>
            <a:r>
              <a:rPr lang="en-US" b="0" dirty="0">
                <a:solidFill>
                  <a:schemeClr val="tx1"/>
                </a:solidFill>
              </a:rPr>
              <a:t> , </a:t>
            </a:r>
            <a:r>
              <a:rPr lang="en-US" b="0" dirty="0" err="1">
                <a:solidFill>
                  <a:schemeClr val="tx1"/>
                </a:solidFill>
              </a:rPr>
              <a:t>Kopargaon</a:t>
            </a:r>
            <a:r>
              <a:rPr lang="en-US" b="0" dirty="0">
                <a:solidFill>
                  <a:schemeClr val="tx1"/>
                </a:solidFill>
              </a:rPr>
              <a:t>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564318" y="3109952"/>
            <a:ext cx="11063363" cy="743448"/>
          </a:xfrm>
        </p:spPr>
        <p:txBody>
          <a:bodyPr>
            <a:normAutofit fontScale="90000"/>
          </a:bodyPr>
          <a:lstStyle/>
          <a:p>
            <a:r>
              <a:rPr lang="en-GB" sz="3200" b="1" dirty="0"/>
              <a:t>Project Title </a:t>
            </a:r>
            <a:r>
              <a:rPr lang="en-GB" sz="3200" dirty="0"/>
              <a:t>-</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5957" y="4549490"/>
            <a:ext cx="5360267" cy="369332"/>
          </a:xfrm>
          <a:prstGeom prst="rect">
            <a:avLst/>
          </a:prstGeom>
          <a:noFill/>
        </p:spPr>
        <p:txBody>
          <a:bodyPr wrap="square" rtlCol="0">
            <a:spAutoFit/>
          </a:bodyPr>
          <a:lstStyle/>
          <a:p>
            <a:r>
              <a:rPr lang="en-US" b="1" dirty="0"/>
              <a:t>AICTE STU ID :</a:t>
            </a:r>
            <a:r>
              <a:rPr lang="en-IN" b="1" dirty="0"/>
              <a:t> </a:t>
            </a:r>
            <a:r>
              <a:rPr lang="en-IN" dirty="0"/>
              <a:t>STU698f173426ce21770985268</a:t>
            </a:r>
            <a:endParaRPr lang="en-US" dirty="0"/>
          </a:p>
        </p:txBody>
      </p:sp>
      <p:sp>
        <p:nvSpPr>
          <p:cNvPr id="7" name="TextBox 6">
            <a:extLst>
              <a:ext uri="{FF2B5EF4-FFF2-40B4-BE49-F238E27FC236}">
                <a16:creationId xmlns:a16="http://schemas.microsoft.com/office/drawing/2014/main" id="{79F999AD-0A81-A22B-98F4-FD8408FC001D}"/>
              </a:ext>
            </a:extLst>
          </p:cNvPr>
          <p:cNvSpPr txBox="1"/>
          <p:nvPr/>
        </p:nvSpPr>
        <p:spPr>
          <a:xfrm>
            <a:off x="-831273" y="3655498"/>
            <a:ext cx="6234544" cy="400110"/>
          </a:xfrm>
          <a:prstGeom prst="rect">
            <a:avLst/>
          </a:prstGeom>
          <a:noFill/>
        </p:spPr>
        <p:txBody>
          <a:bodyPr wrap="square">
            <a:spAutoFit/>
          </a:bodyPr>
          <a:lstStyle/>
          <a:p>
            <a:pPr algn="r"/>
            <a:r>
              <a:rPr lang="en-US" sz="2000" b="1" dirty="0">
                <a:solidFill>
                  <a:schemeClr val="tx1"/>
                </a:solidFill>
              </a:rPr>
              <a:t>Student Name</a:t>
            </a:r>
            <a:r>
              <a:rPr lang="en-US" sz="2000" b="0" dirty="0">
                <a:solidFill>
                  <a:schemeClr val="tx1"/>
                </a:solidFill>
              </a:rPr>
              <a:t>: Dange Shraddha Ramesh </a:t>
            </a:r>
            <a:endParaRPr lang="en-IN" sz="2000" b="0" dirty="0">
              <a:solidFill>
                <a:schemeClr val="tx1"/>
              </a:solidFill>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40875" y="151447"/>
            <a:ext cx="6276109" cy="830997"/>
          </a:xfrm>
        </p:spPr>
        <p:txBody>
          <a:bodyPr>
            <a:noAutofit/>
          </a:bodyPr>
          <a:lstStyle/>
          <a:p>
            <a:r>
              <a:rPr lang="en-GB" sz="4000" dirty="0"/>
              <a:t>Project Description</a:t>
            </a:r>
            <a:br>
              <a:rPr lang="en-GB" sz="1600" dirty="0"/>
            </a:br>
            <a:br>
              <a:rPr lang="en-GB" sz="1600" dirty="0"/>
            </a:br>
            <a:br>
              <a:rPr lang="en-GB" sz="1600" dirty="0"/>
            </a:br>
            <a:r>
              <a:rPr lang="en-IN" sz="1800" dirty="0"/>
              <a:t>Seasonal Agriculture Performance Analysis : </a:t>
            </a:r>
            <a:br>
              <a:rPr lang="en-IN" sz="1600" dirty="0"/>
            </a:br>
            <a:r>
              <a:rPr lang="en-IN" sz="1600" b="0" dirty="0"/>
              <a:t>This project focuses on analyzing agricultural data collected across different seasons, geographical areas and farming conditions.</a:t>
            </a:r>
            <a:br>
              <a:rPr lang="en-IN" sz="1600" b="0" dirty="0"/>
            </a:br>
            <a:r>
              <a:rPr lang="en-IN" sz="1600" b="0" dirty="0"/>
              <a:t>The dataset includes information related to:</a:t>
            </a:r>
            <a:br>
              <a:rPr lang="en-IN" sz="1600" b="0" dirty="0"/>
            </a:br>
            <a:r>
              <a:rPr lang="en-IN" sz="1600" b="0" dirty="0"/>
              <a:t>1.Crop and farm details</a:t>
            </a:r>
            <a:br>
              <a:rPr lang="en-IN" sz="1600" b="0" dirty="0"/>
            </a:br>
            <a:r>
              <a:rPr lang="en-IN" sz="1600" b="0" dirty="0"/>
              <a:t>2.Rainfall and environmental conditions</a:t>
            </a:r>
            <a:br>
              <a:rPr lang="en-IN" sz="1600" b="0" dirty="0"/>
            </a:br>
            <a:r>
              <a:rPr lang="en-IN" sz="1600" b="0" dirty="0"/>
              <a:t>3. Temperature and humidity</a:t>
            </a:r>
            <a:br>
              <a:rPr lang="en-IN" sz="1600" b="0" dirty="0"/>
            </a:br>
            <a:r>
              <a:rPr lang="en-IN" sz="1600" b="0" dirty="0"/>
              <a:t>4.Water usage and irrigation methods</a:t>
            </a:r>
            <a:br>
              <a:rPr lang="en-IN" sz="1600" b="0" dirty="0"/>
            </a:br>
            <a:r>
              <a:rPr lang="en-IN" sz="1600" b="0" dirty="0"/>
              <a:t>5.Soil and fertilizer information</a:t>
            </a:r>
            <a:br>
              <a:rPr lang="en-IN" sz="1600" b="0" dirty="0"/>
            </a:br>
            <a:r>
              <a:rPr lang="en-IN" sz="1600" b="0" dirty="0"/>
              <a:t>6. Crop yield and production</a:t>
            </a:r>
            <a:br>
              <a:rPr lang="en-IN" sz="1600" b="0" dirty="0"/>
            </a:br>
            <a:r>
              <a:rPr lang="en-IN" sz="1600" b="0" dirty="0"/>
              <a:t>7.Revenue, cost and profit</a:t>
            </a:r>
            <a:br>
              <a:rPr lang="en-IN" sz="1600" b="0" dirty="0"/>
            </a:br>
            <a:br>
              <a:rPr lang="en-IN" sz="1600" b="0" dirty="0"/>
            </a:br>
            <a:r>
              <a:rPr lang="en-IN" sz="1800" dirty="0"/>
              <a:t>Project Approach : </a:t>
            </a:r>
            <a:br>
              <a:rPr lang="en-IN" sz="1600" dirty="0"/>
            </a:br>
            <a:r>
              <a:rPr lang="en-IN" sz="1600" b="0" dirty="0"/>
              <a:t>Data Collection → Data Cleaning → Data Analysis → Seasonal Comparison → Visualization → Insights &amp; Recommendations</a:t>
            </a:r>
            <a:r>
              <a:rPr lang="en-IN" sz="1600" dirty="0"/>
              <a:t>	</a:t>
            </a:r>
            <a:endParaRPr lang="en-IN" sz="1600" b="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55000" lnSpcReduction="20000"/>
          </a:bodyPr>
          <a:lstStyle/>
          <a:p>
            <a:pPr marL="0" indent="0">
              <a:buNone/>
            </a:pPr>
            <a:r>
              <a:rPr lang="en-IN" sz="3600" b="1" dirty="0"/>
              <a:t>1.Farmers</a:t>
            </a:r>
          </a:p>
          <a:p>
            <a:r>
              <a:rPr lang="en-IN" sz="3600" dirty="0"/>
              <a:t>To understand seasonal crop performance and resource requirements.</a:t>
            </a:r>
          </a:p>
          <a:p>
            <a:pPr marL="0" indent="0">
              <a:buNone/>
            </a:pPr>
            <a:r>
              <a:rPr lang="en-IN" sz="3600" b="1" dirty="0"/>
              <a:t>2. Agricultural Planners</a:t>
            </a:r>
          </a:p>
          <a:p>
            <a:r>
              <a:rPr lang="en-IN" sz="3600" dirty="0"/>
              <a:t>To support better seasonal agricultural planning.</a:t>
            </a:r>
          </a:p>
          <a:p>
            <a:pPr marL="0" indent="0">
              <a:buNone/>
            </a:pPr>
            <a:r>
              <a:rPr lang="en-IN" sz="3600" b="1" dirty="0"/>
              <a:t>3.Researchers and Data Analysts</a:t>
            </a:r>
          </a:p>
          <a:p>
            <a:r>
              <a:rPr lang="en-IN" sz="3600" dirty="0"/>
              <a:t>To study relationships between environmental conditions and agricultural performance.</a:t>
            </a:r>
          </a:p>
          <a:p>
            <a:pPr marL="0" indent="0">
              <a:buNone/>
            </a:pPr>
            <a:r>
              <a:rPr lang="en-IN" sz="3600" b="1" dirty="0"/>
              <a:t>4. Government and Agricultural Organizations</a:t>
            </a:r>
          </a:p>
          <a:p>
            <a:r>
              <a:rPr lang="en-IN" sz="3600" dirty="0"/>
              <a:t>To support evidence-based agricultural planning and decision-making.</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marL="914400" lvl="1" indent="-457200">
              <a:lnSpc>
                <a:spcPct val="100000"/>
              </a:lnSpc>
              <a:buAutoNum type="arabicPeriod"/>
            </a:pPr>
            <a:r>
              <a:rPr lang="en-IN" dirty="0"/>
              <a:t>Programming Language : Python</a:t>
            </a:r>
          </a:p>
          <a:p>
            <a:pPr marL="914400" lvl="1" indent="-457200">
              <a:lnSpc>
                <a:spcPct val="100000"/>
              </a:lnSpc>
              <a:buAutoNum type="arabicPeriod"/>
            </a:pPr>
            <a:r>
              <a:rPr lang="en-IN" dirty="0"/>
              <a:t>Libraries Used : Pandas , NumPy , Matplotlib , Seaborn</a:t>
            </a:r>
          </a:p>
          <a:p>
            <a:pPr marL="914400" lvl="1" indent="-457200">
              <a:lnSpc>
                <a:spcPct val="100000"/>
              </a:lnSpc>
              <a:buAutoNum type="arabicPeriod"/>
            </a:pPr>
            <a:r>
              <a:rPr lang="en-IN" dirty="0"/>
              <a:t>Platform : Google </a:t>
            </a:r>
            <a:r>
              <a:rPr lang="en-IN" dirty="0" err="1"/>
              <a:t>Colab</a:t>
            </a:r>
            <a:r>
              <a:rPr lang="en-IN" dirty="0"/>
              <a:t> / Jupyter Notebook</a:t>
            </a:r>
          </a:p>
          <a:p>
            <a:pPr marL="914400" lvl="1" indent="-457200">
              <a:lnSpc>
                <a:spcPct val="100000"/>
              </a:lnSpc>
              <a:buAutoNum type="arabicPeriod"/>
            </a:pPr>
            <a:r>
              <a:rPr lang="en-IN" dirty="0"/>
              <a:t>Dataset Format : Dataset Format</a:t>
            </a:r>
          </a:p>
          <a:p>
            <a:pPr marL="457200" lvl="1" indent="0">
              <a:lnSpc>
                <a:spcPct val="100000"/>
              </a:lnSpc>
              <a:buNone/>
            </a:pPr>
            <a:endParaRPr lang="en-IN" dirty="0"/>
          </a:p>
          <a:p>
            <a:pPr marL="457200" lvl="1" indent="0">
              <a:lnSpc>
                <a:spcPct val="100000"/>
              </a:lnSpc>
              <a:buNone/>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1000"/>
                                        <p:tgtEl>
                                          <p:spTgt spid="7">
                                            <p:txEl>
                                              <p:pRg st="2" end="2"/>
                                            </p:txEl>
                                          </p:spTgt>
                                        </p:tgtEl>
                                      </p:cBhvr>
                                    </p:animEffect>
                                    <p:anim calcmode="lin" valueType="num">
                                      <p:cBhvr>
                                        <p:cTn id="2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3" end="3"/>
                                            </p:txEl>
                                          </p:spTgt>
                                        </p:tgtEl>
                                        <p:attrNameLst>
                                          <p:attrName>style.visibility</p:attrName>
                                        </p:attrNameLst>
                                      </p:cBhvr>
                                      <p:to>
                                        <p:strVal val="visible"/>
                                      </p:to>
                                    </p:set>
                                    <p:animEffect transition="in" filter="fade">
                                      <p:cBhvr>
                                        <p:cTn id="29" dur="1000"/>
                                        <p:tgtEl>
                                          <p:spTgt spid="7">
                                            <p:txEl>
                                              <p:pRg st="3" end="3"/>
                                            </p:txEl>
                                          </p:spTgt>
                                        </p:tgtEl>
                                      </p:cBhvr>
                                    </p:animEffect>
                                    <p:anim calcmode="lin" valueType="num">
                                      <p:cBhvr>
                                        <p:cTn id="30"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01940" y="147628"/>
            <a:ext cx="10117569" cy="830997"/>
          </a:xfrm>
        </p:spPr>
        <p:txBody>
          <a:bodyPr>
            <a:normAutofit fontScale="90000"/>
          </a:bodyPr>
          <a:lstStyle/>
          <a:p>
            <a:r>
              <a:rPr lang="en-GB" dirty="0"/>
              <a:t>RESULTS :</a:t>
            </a:r>
            <a:br>
              <a:rPr lang="en-IN" dirty="0"/>
            </a:b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extBox 8">
            <a:extLst>
              <a:ext uri="{FF2B5EF4-FFF2-40B4-BE49-F238E27FC236}">
                <a16:creationId xmlns:a16="http://schemas.microsoft.com/office/drawing/2014/main" id="{5F51C5AA-EE5F-D96C-EF2C-5CD59F1AC593}"/>
              </a:ext>
            </a:extLst>
          </p:cNvPr>
          <p:cNvSpPr txBox="1"/>
          <p:nvPr/>
        </p:nvSpPr>
        <p:spPr>
          <a:xfrm>
            <a:off x="7854392" y="1898019"/>
            <a:ext cx="4502745" cy="2154436"/>
          </a:xfrm>
          <a:prstGeom prst="rect">
            <a:avLst/>
          </a:prstGeom>
          <a:noFill/>
        </p:spPr>
        <p:txBody>
          <a:bodyPr wrap="square">
            <a:spAutoFit/>
          </a:bodyPr>
          <a:lstStyle/>
          <a:p>
            <a:pPr>
              <a:buNone/>
            </a:pPr>
            <a:r>
              <a:rPr lang="en-IN" b="1" dirty="0"/>
              <a:t>Analysis:</a:t>
            </a:r>
            <a:endParaRPr lang="en-IN" dirty="0"/>
          </a:p>
          <a:p>
            <a:pPr marL="342900" lvl="0" indent="-342900">
              <a:buFont typeface="Arial" panose="020B0604020202020204" pitchFamily="34" charset="0"/>
              <a:buChar char="•"/>
            </a:pPr>
            <a:r>
              <a:rPr lang="en-IN" sz="1600" dirty="0"/>
              <a:t>Compared average crop yield across seasons. </a:t>
            </a:r>
          </a:p>
          <a:p>
            <a:pPr marL="342900" lvl="0" indent="-342900">
              <a:buFont typeface="Arial" panose="020B0604020202020204" pitchFamily="34" charset="0"/>
              <a:buChar char="•"/>
            </a:pPr>
            <a:r>
              <a:rPr lang="en-IN" sz="1600" dirty="0"/>
              <a:t>Identified seasonal variations in productivity</a:t>
            </a:r>
            <a:r>
              <a:rPr lang="en-IN" dirty="0"/>
              <a:t>. </a:t>
            </a:r>
          </a:p>
          <a:p>
            <a:pPr>
              <a:buNone/>
            </a:pPr>
            <a:r>
              <a:rPr lang="en-IN" b="1" dirty="0"/>
              <a:t>Insight:</a:t>
            </a:r>
            <a:endParaRPr lang="en-IN" dirty="0"/>
          </a:p>
          <a:p>
            <a:pPr marL="342900" lvl="0" indent="-342900">
              <a:buFont typeface="Arial" panose="020B0604020202020204" pitchFamily="34" charset="0"/>
              <a:buChar char="•"/>
            </a:pPr>
            <a:r>
              <a:rPr lang="en-IN" sz="1600" dirty="0"/>
              <a:t>Shows which seasons have higher or lower crop yield. </a:t>
            </a:r>
          </a:p>
        </p:txBody>
      </p:sp>
      <p:pic>
        <p:nvPicPr>
          <p:cNvPr id="13" name="Picture 12">
            <a:extLst>
              <a:ext uri="{FF2B5EF4-FFF2-40B4-BE49-F238E27FC236}">
                <a16:creationId xmlns:a16="http://schemas.microsoft.com/office/drawing/2014/main" id="{B5360356-B906-CA1F-D6AB-0E0F76D5386C}"/>
              </a:ext>
            </a:extLst>
          </p:cNvPr>
          <p:cNvPicPr>
            <a:picLocks noChangeAspect="1"/>
          </p:cNvPicPr>
          <p:nvPr/>
        </p:nvPicPr>
        <p:blipFill>
          <a:blip r:embed="rId3"/>
          <a:stretch>
            <a:fillRect/>
          </a:stretch>
        </p:blipFill>
        <p:spPr>
          <a:xfrm>
            <a:off x="248246" y="1537855"/>
            <a:ext cx="7533410" cy="5029200"/>
          </a:xfrm>
          <a:prstGeom prst="rect">
            <a:avLst/>
          </a:prstGeom>
        </p:spPr>
      </p:pic>
      <p:sp>
        <p:nvSpPr>
          <p:cNvPr id="15" name="TextBox 14">
            <a:extLst>
              <a:ext uri="{FF2B5EF4-FFF2-40B4-BE49-F238E27FC236}">
                <a16:creationId xmlns:a16="http://schemas.microsoft.com/office/drawing/2014/main" id="{5B8B653E-DBD9-CC44-670D-2A103A15026F}"/>
              </a:ext>
            </a:extLst>
          </p:cNvPr>
          <p:cNvSpPr txBox="1"/>
          <p:nvPr/>
        </p:nvSpPr>
        <p:spPr>
          <a:xfrm>
            <a:off x="501940" y="978625"/>
            <a:ext cx="6506164" cy="400110"/>
          </a:xfrm>
          <a:prstGeom prst="rect">
            <a:avLst/>
          </a:prstGeom>
          <a:noFill/>
        </p:spPr>
        <p:txBody>
          <a:bodyPr wrap="square">
            <a:spAutoFit/>
          </a:bodyPr>
          <a:lstStyle/>
          <a:p>
            <a:r>
              <a:rPr lang="en-IN" sz="2000" dirty="0"/>
              <a:t>RESULT 1 – Average Yield by Season</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1185111" y="1105066"/>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346594" y="61187"/>
            <a:ext cx="10618961" cy="830997"/>
          </a:xfrm>
        </p:spPr>
        <p:txBody>
          <a:bodyPr>
            <a:normAutofit/>
          </a:bodyPr>
          <a:lstStyle/>
          <a:p>
            <a:r>
              <a:rPr lang="en-GB"/>
              <a:t>RESULTS :</a:t>
            </a:r>
            <a:endParaRPr lang="en-IN" sz="3100"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143146" y="1843608"/>
            <a:ext cx="4275138" cy="2631845"/>
          </a:xfrm>
        </p:spPr>
        <p:txBody>
          <a:bodyPr>
            <a:normAutofit fontScale="25000" lnSpcReduction="20000"/>
          </a:bodyPr>
          <a:lstStyle/>
          <a:p>
            <a:r>
              <a:rPr lang="en-IN" sz="7200" b="1" dirty="0"/>
              <a:t>Analysis</a:t>
            </a:r>
            <a:r>
              <a:rPr lang="en-IN" b="1" dirty="0"/>
              <a:t>:</a:t>
            </a:r>
            <a:endParaRPr lang="en-IN" dirty="0"/>
          </a:p>
          <a:p>
            <a:pPr lvl="0"/>
            <a:r>
              <a:rPr lang="en-IN" sz="8000" dirty="0"/>
              <a:t>Compared average rainfall across different seasons. </a:t>
            </a:r>
          </a:p>
          <a:p>
            <a:pPr lvl="0"/>
            <a:r>
              <a:rPr lang="en-IN" sz="8000" dirty="0"/>
              <a:t>Identified seasonal environmental variations. </a:t>
            </a:r>
          </a:p>
          <a:p>
            <a:r>
              <a:rPr lang="en-IN" sz="8000" b="1" dirty="0"/>
              <a:t>Insight:</a:t>
            </a:r>
            <a:endParaRPr lang="en-IN" sz="8000" dirty="0"/>
          </a:p>
          <a:p>
            <a:pPr lvl="0"/>
            <a:r>
              <a:rPr lang="en-IN" sz="8000" dirty="0"/>
              <a:t>Rainfall patterns may influence crop growth and yield.</a:t>
            </a:r>
          </a:p>
          <a:p>
            <a:pPr marL="0" indent="0">
              <a:buNone/>
            </a:pPr>
            <a:endParaRPr lang="en-IN" dirty="0"/>
          </a:p>
        </p:txBody>
      </p:sp>
      <p:pic>
        <p:nvPicPr>
          <p:cNvPr id="3" name="Picture 2">
            <a:extLst>
              <a:ext uri="{FF2B5EF4-FFF2-40B4-BE49-F238E27FC236}">
                <a16:creationId xmlns:a16="http://schemas.microsoft.com/office/drawing/2014/main" id="{09B640F2-CB1C-09E1-23B7-F67D367D920E}"/>
              </a:ext>
            </a:extLst>
          </p:cNvPr>
          <p:cNvPicPr>
            <a:picLocks noChangeAspect="1"/>
          </p:cNvPicPr>
          <p:nvPr/>
        </p:nvPicPr>
        <p:blipFill>
          <a:blip r:embed="rId3"/>
          <a:stretch>
            <a:fillRect/>
          </a:stretch>
        </p:blipFill>
        <p:spPr>
          <a:xfrm>
            <a:off x="320982" y="1510988"/>
            <a:ext cx="7586500" cy="5256196"/>
          </a:xfrm>
          <a:prstGeom prst="rect">
            <a:avLst/>
          </a:prstGeom>
        </p:spPr>
      </p:pic>
      <p:sp>
        <p:nvSpPr>
          <p:cNvPr id="11" name="TextBox 10">
            <a:extLst>
              <a:ext uri="{FF2B5EF4-FFF2-40B4-BE49-F238E27FC236}">
                <a16:creationId xmlns:a16="http://schemas.microsoft.com/office/drawing/2014/main" id="{D50A3F85-290E-4851-BA76-88F78582AB60}"/>
              </a:ext>
            </a:extLst>
          </p:cNvPr>
          <p:cNvSpPr txBox="1"/>
          <p:nvPr/>
        </p:nvSpPr>
        <p:spPr>
          <a:xfrm>
            <a:off x="454603" y="927746"/>
            <a:ext cx="6208568" cy="400110"/>
          </a:xfrm>
          <a:prstGeom prst="rect">
            <a:avLst/>
          </a:prstGeom>
          <a:noFill/>
        </p:spPr>
        <p:txBody>
          <a:bodyPr wrap="square">
            <a:spAutoFit/>
          </a:bodyPr>
          <a:lstStyle/>
          <a:p>
            <a:r>
              <a:rPr lang="en-IN" sz="2000" dirty="0"/>
              <a:t>RESULT 2 – Average Rainfall by Season</a:t>
            </a:r>
            <a:r>
              <a:rPr lang="en-GB" sz="2000" dirty="0"/>
              <a:t> </a:t>
            </a:r>
            <a:endParaRPr lang="en-IN" sz="2000"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501940" y="127453"/>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75957" y="958450"/>
            <a:ext cx="5126045" cy="477520"/>
          </a:xfrm>
        </p:spPr>
        <p:txBody>
          <a:bodyPr>
            <a:normAutofit/>
          </a:bodyPr>
          <a:lstStyle/>
          <a:p>
            <a:pPr marL="0" indent="0">
              <a:buNone/>
            </a:pPr>
            <a:r>
              <a:rPr lang="en-IN" dirty="0"/>
              <a:t>RESULT 3 – Average Water Usage by Season</a:t>
            </a:r>
          </a:p>
        </p:txBody>
      </p:sp>
      <p:pic>
        <p:nvPicPr>
          <p:cNvPr id="3" name="Picture 2">
            <a:extLst>
              <a:ext uri="{FF2B5EF4-FFF2-40B4-BE49-F238E27FC236}">
                <a16:creationId xmlns:a16="http://schemas.microsoft.com/office/drawing/2014/main" id="{601DE0C4-E3B7-BBC9-E46D-9B89AF8AFCC5}"/>
              </a:ext>
            </a:extLst>
          </p:cNvPr>
          <p:cNvPicPr>
            <a:picLocks noChangeAspect="1"/>
          </p:cNvPicPr>
          <p:nvPr/>
        </p:nvPicPr>
        <p:blipFill>
          <a:blip r:embed="rId3"/>
          <a:stretch>
            <a:fillRect/>
          </a:stretch>
        </p:blipFill>
        <p:spPr>
          <a:xfrm>
            <a:off x="501940" y="1435970"/>
            <a:ext cx="7779615" cy="5372566"/>
          </a:xfrm>
          <a:prstGeom prst="rect">
            <a:avLst/>
          </a:prstGeom>
        </p:spPr>
      </p:pic>
      <p:sp>
        <p:nvSpPr>
          <p:cNvPr id="9" name="TextBox 8">
            <a:extLst>
              <a:ext uri="{FF2B5EF4-FFF2-40B4-BE49-F238E27FC236}">
                <a16:creationId xmlns:a16="http://schemas.microsoft.com/office/drawing/2014/main" id="{F919E38D-F1F3-D15F-2821-29D69CF01011}"/>
              </a:ext>
            </a:extLst>
          </p:cNvPr>
          <p:cNvSpPr txBox="1"/>
          <p:nvPr/>
        </p:nvSpPr>
        <p:spPr>
          <a:xfrm>
            <a:off x="8462513" y="2505786"/>
            <a:ext cx="3880594" cy="2308324"/>
          </a:xfrm>
          <a:prstGeom prst="rect">
            <a:avLst/>
          </a:prstGeom>
          <a:noFill/>
        </p:spPr>
        <p:txBody>
          <a:bodyPr wrap="square">
            <a:spAutoFit/>
          </a:bodyPr>
          <a:lstStyle/>
          <a:p>
            <a:pPr>
              <a:buNone/>
            </a:pPr>
            <a:r>
              <a:rPr lang="en-IN" b="1" dirty="0"/>
              <a:t>Analysis:</a:t>
            </a:r>
            <a:endParaRPr lang="en-IN" dirty="0"/>
          </a:p>
          <a:p>
            <a:pPr marL="342900" lvl="0" indent="-342900">
              <a:buFont typeface="Arial" panose="020B0604020202020204" pitchFamily="34" charset="0"/>
              <a:buChar char="•"/>
            </a:pPr>
            <a:r>
              <a:rPr lang="en-IN" dirty="0"/>
              <a:t>Compared water usage across seasons. </a:t>
            </a:r>
          </a:p>
          <a:p>
            <a:pPr marL="342900" lvl="0" indent="-342900">
              <a:buFont typeface="Arial" panose="020B0604020202020204" pitchFamily="34" charset="0"/>
              <a:buChar char="•"/>
            </a:pPr>
            <a:r>
              <a:rPr lang="en-IN" dirty="0"/>
              <a:t>Identified changes in resource requirements. </a:t>
            </a:r>
          </a:p>
          <a:p>
            <a:pPr>
              <a:buNone/>
            </a:pPr>
            <a:r>
              <a:rPr lang="en-IN" b="1" dirty="0"/>
              <a:t>Insight:</a:t>
            </a:r>
            <a:endParaRPr lang="en-IN" dirty="0"/>
          </a:p>
          <a:p>
            <a:pPr marL="342900" lvl="0" indent="-342900">
              <a:buFont typeface="Arial" panose="020B0604020202020204" pitchFamily="34" charset="0"/>
              <a:buChar char="•"/>
            </a:pPr>
            <a:r>
              <a:rPr lang="en-IN" dirty="0"/>
              <a:t>Helps understand seasonal irrigation needs.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501940" y="107037"/>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501940" y="1036611"/>
            <a:ext cx="4275138" cy="477520"/>
          </a:xfrm>
        </p:spPr>
        <p:txBody>
          <a:bodyPr/>
          <a:lstStyle/>
          <a:p>
            <a:pPr marL="0" indent="0">
              <a:buNone/>
            </a:pPr>
            <a:r>
              <a:rPr lang="en-IN" dirty="0"/>
              <a:t>RESULT 4 – Average Profit by Season</a:t>
            </a:r>
          </a:p>
        </p:txBody>
      </p:sp>
      <p:pic>
        <p:nvPicPr>
          <p:cNvPr id="3" name="Picture 2">
            <a:extLst>
              <a:ext uri="{FF2B5EF4-FFF2-40B4-BE49-F238E27FC236}">
                <a16:creationId xmlns:a16="http://schemas.microsoft.com/office/drawing/2014/main" id="{5F52DD54-62EC-4F44-39A4-57CAD51851F8}"/>
              </a:ext>
            </a:extLst>
          </p:cNvPr>
          <p:cNvPicPr>
            <a:picLocks noChangeAspect="1"/>
          </p:cNvPicPr>
          <p:nvPr/>
        </p:nvPicPr>
        <p:blipFill>
          <a:blip r:embed="rId3"/>
          <a:stretch>
            <a:fillRect/>
          </a:stretch>
        </p:blipFill>
        <p:spPr>
          <a:xfrm>
            <a:off x="190213" y="1514131"/>
            <a:ext cx="7893915" cy="5153902"/>
          </a:xfrm>
          <a:prstGeom prst="rect">
            <a:avLst/>
          </a:prstGeom>
        </p:spPr>
      </p:pic>
      <p:sp>
        <p:nvSpPr>
          <p:cNvPr id="9" name="TextBox 8">
            <a:extLst>
              <a:ext uri="{FF2B5EF4-FFF2-40B4-BE49-F238E27FC236}">
                <a16:creationId xmlns:a16="http://schemas.microsoft.com/office/drawing/2014/main" id="{77DE53C4-755F-651E-399C-B36DB008A142}"/>
              </a:ext>
            </a:extLst>
          </p:cNvPr>
          <p:cNvSpPr txBox="1"/>
          <p:nvPr/>
        </p:nvSpPr>
        <p:spPr>
          <a:xfrm>
            <a:off x="8196117" y="2388999"/>
            <a:ext cx="3805670" cy="2308324"/>
          </a:xfrm>
          <a:prstGeom prst="rect">
            <a:avLst/>
          </a:prstGeom>
          <a:noFill/>
        </p:spPr>
        <p:txBody>
          <a:bodyPr wrap="square">
            <a:spAutoFit/>
          </a:bodyPr>
          <a:lstStyle/>
          <a:p>
            <a:pPr>
              <a:buNone/>
            </a:pPr>
            <a:r>
              <a:rPr lang="en-IN" b="1" dirty="0"/>
              <a:t>Analysis:</a:t>
            </a:r>
            <a:endParaRPr lang="en-IN" dirty="0"/>
          </a:p>
          <a:p>
            <a:pPr marL="342900" lvl="0" indent="-342900">
              <a:buFont typeface="Arial" panose="020B0604020202020204" pitchFamily="34" charset="0"/>
              <a:buChar char="•"/>
            </a:pPr>
            <a:r>
              <a:rPr lang="en-IN" dirty="0"/>
              <a:t>Compared average agricultural profit across seasons. </a:t>
            </a:r>
          </a:p>
          <a:p>
            <a:pPr marL="342900" lvl="0" indent="-342900">
              <a:buFont typeface="Arial" panose="020B0604020202020204" pitchFamily="34" charset="0"/>
              <a:buChar char="•"/>
            </a:pPr>
            <a:r>
              <a:rPr lang="en-IN" dirty="0"/>
              <a:t>Identified seasonal economic variations. </a:t>
            </a:r>
          </a:p>
          <a:p>
            <a:pPr>
              <a:buNone/>
            </a:pPr>
            <a:r>
              <a:rPr lang="en-IN" b="1" dirty="0"/>
              <a:t>Insight:</a:t>
            </a:r>
            <a:endParaRPr lang="en-IN" dirty="0"/>
          </a:p>
          <a:p>
            <a:pPr marL="342900" lvl="0" indent="-342900">
              <a:buFont typeface="Arial" panose="020B0604020202020204" pitchFamily="34" charset="0"/>
              <a:buChar char="•"/>
            </a:pPr>
            <a:r>
              <a:rPr lang="en-IN" dirty="0"/>
              <a:t>Shows differences in seasonal profitability.</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501940"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525350" y="1024037"/>
            <a:ext cx="4275138" cy="477520"/>
          </a:xfrm>
        </p:spPr>
        <p:txBody>
          <a:bodyPr>
            <a:normAutofit fontScale="92500"/>
          </a:bodyPr>
          <a:lstStyle/>
          <a:p>
            <a:pPr marL="0" indent="0">
              <a:buNone/>
            </a:pPr>
            <a:r>
              <a:rPr lang="en-IN" dirty="0"/>
              <a:t>RESULT 5 – Crop Yield Across Seasons</a:t>
            </a:r>
          </a:p>
        </p:txBody>
      </p:sp>
      <p:pic>
        <p:nvPicPr>
          <p:cNvPr id="3" name="Picture 2">
            <a:extLst>
              <a:ext uri="{FF2B5EF4-FFF2-40B4-BE49-F238E27FC236}">
                <a16:creationId xmlns:a16="http://schemas.microsoft.com/office/drawing/2014/main" id="{5598822D-F804-1E5D-40EF-B4AF587A78D8}"/>
              </a:ext>
            </a:extLst>
          </p:cNvPr>
          <p:cNvPicPr>
            <a:picLocks noChangeAspect="1"/>
          </p:cNvPicPr>
          <p:nvPr/>
        </p:nvPicPr>
        <p:blipFill>
          <a:blip r:embed="rId3"/>
          <a:stretch>
            <a:fillRect/>
          </a:stretch>
        </p:blipFill>
        <p:spPr>
          <a:xfrm>
            <a:off x="175155" y="1390936"/>
            <a:ext cx="7753109" cy="4751713"/>
          </a:xfrm>
          <a:prstGeom prst="rect">
            <a:avLst/>
          </a:prstGeom>
        </p:spPr>
      </p:pic>
      <p:sp>
        <p:nvSpPr>
          <p:cNvPr id="9" name="TextBox 8">
            <a:extLst>
              <a:ext uri="{FF2B5EF4-FFF2-40B4-BE49-F238E27FC236}">
                <a16:creationId xmlns:a16="http://schemas.microsoft.com/office/drawing/2014/main" id="{9C324340-1085-7DBE-38E6-9E59B7DF7FCA}"/>
              </a:ext>
            </a:extLst>
          </p:cNvPr>
          <p:cNvSpPr txBox="1"/>
          <p:nvPr/>
        </p:nvSpPr>
        <p:spPr>
          <a:xfrm>
            <a:off x="8177644" y="2274838"/>
            <a:ext cx="3701761" cy="2308324"/>
          </a:xfrm>
          <a:prstGeom prst="rect">
            <a:avLst/>
          </a:prstGeom>
          <a:noFill/>
        </p:spPr>
        <p:txBody>
          <a:bodyPr wrap="square">
            <a:spAutoFit/>
          </a:bodyPr>
          <a:lstStyle/>
          <a:p>
            <a:pPr>
              <a:buNone/>
            </a:pPr>
            <a:r>
              <a:rPr lang="en-IN" b="1" dirty="0"/>
              <a:t>Analysis:</a:t>
            </a:r>
            <a:endParaRPr lang="en-IN" dirty="0"/>
          </a:p>
          <a:p>
            <a:pPr marL="342900" lvl="0" indent="-342900">
              <a:buFont typeface="Arial" panose="020B0604020202020204" pitchFamily="34" charset="0"/>
              <a:buChar char="•"/>
            </a:pPr>
            <a:r>
              <a:rPr lang="en-IN" dirty="0"/>
              <a:t>Compared crop yield for different crops and seasons. </a:t>
            </a:r>
          </a:p>
          <a:p>
            <a:pPr marL="342900" lvl="0" indent="-342900">
              <a:buFont typeface="Arial" panose="020B0604020202020204" pitchFamily="34" charset="0"/>
              <a:buChar char="•"/>
            </a:pPr>
            <a:r>
              <a:rPr lang="en-IN" dirty="0"/>
              <a:t>Identified variations in crop performance. </a:t>
            </a:r>
          </a:p>
          <a:p>
            <a:pPr>
              <a:buNone/>
            </a:pPr>
            <a:r>
              <a:rPr lang="en-IN" b="1" dirty="0"/>
              <a:t>Insight:</a:t>
            </a:r>
            <a:endParaRPr lang="en-IN" dirty="0"/>
          </a:p>
          <a:p>
            <a:pPr marL="342900" lvl="0" indent="-342900">
              <a:buFont typeface="Arial" panose="020B0604020202020204" pitchFamily="34" charset="0"/>
              <a:buChar char="•"/>
            </a:pPr>
            <a:r>
              <a:rPr lang="en-IN" dirty="0"/>
              <a:t>Different crops may perform differently in each season.</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2CE4A-7B63-F2AD-24B3-C3CE745D7AD2}"/>
              </a:ext>
            </a:extLst>
          </p:cNvPr>
          <p:cNvSpPr>
            <a:spLocks noGrp="1"/>
          </p:cNvSpPr>
          <p:nvPr>
            <p:ph type="title"/>
          </p:nvPr>
        </p:nvSpPr>
        <p:spPr>
          <a:xfrm>
            <a:off x="448734" y="131618"/>
            <a:ext cx="3125739" cy="1094509"/>
          </a:xfrm>
        </p:spPr>
        <p:txBody>
          <a:bodyPr>
            <a:normAutofit/>
          </a:bodyPr>
          <a:lstStyle/>
          <a:p>
            <a:r>
              <a:rPr lang="en-IN" sz="4800" b="1" dirty="0">
                <a:solidFill>
                  <a:schemeClr val="tx1"/>
                </a:solidFill>
              </a:rPr>
              <a:t>RESULTS</a:t>
            </a:r>
          </a:p>
        </p:txBody>
      </p:sp>
      <p:sp>
        <p:nvSpPr>
          <p:cNvPr id="3" name="Slide Number Placeholder 2">
            <a:extLst>
              <a:ext uri="{FF2B5EF4-FFF2-40B4-BE49-F238E27FC236}">
                <a16:creationId xmlns:a16="http://schemas.microsoft.com/office/drawing/2014/main" id="{28714B78-46A3-8A9A-A5B2-115F98641755}"/>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5" name="TextBox 4">
            <a:extLst>
              <a:ext uri="{FF2B5EF4-FFF2-40B4-BE49-F238E27FC236}">
                <a16:creationId xmlns:a16="http://schemas.microsoft.com/office/drawing/2014/main" id="{DA6A5860-80F5-35C3-2B5B-CDA54C6AD62D}"/>
              </a:ext>
            </a:extLst>
          </p:cNvPr>
          <p:cNvSpPr txBox="1"/>
          <p:nvPr/>
        </p:nvSpPr>
        <p:spPr>
          <a:xfrm>
            <a:off x="522144" y="856795"/>
            <a:ext cx="6104658" cy="369332"/>
          </a:xfrm>
          <a:prstGeom prst="rect">
            <a:avLst/>
          </a:prstGeom>
          <a:noFill/>
        </p:spPr>
        <p:txBody>
          <a:bodyPr wrap="square">
            <a:spAutoFit/>
          </a:bodyPr>
          <a:lstStyle/>
          <a:p>
            <a:r>
              <a:rPr lang="en-IN" dirty="0"/>
              <a:t>RESULT 6 – Correlation Heatmap</a:t>
            </a:r>
          </a:p>
        </p:txBody>
      </p:sp>
      <p:pic>
        <p:nvPicPr>
          <p:cNvPr id="7" name="Picture 6">
            <a:extLst>
              <a:ext uri="{FF2B5EF4-FFF2-40B4-BE49-F238E27FC236}">
                <a16:creationId xmlns:a16="http://schemas.microsoft.com/office/drawing/2014/main" id="{659E9F1E-6A97-464C-29DF-447204633EF2}"/>
              </a:ext>
            </a:extLst>
          </p:cNvPr>
          <p:cNvPicPr>
            <a:picLocks noChangeAspect="1"/>
          </p:cNvPicPr>
          <p:nvPr/>
        </p:nvPicPr>
        <p:blipFill>
          <a:blip r:embed="rId2"/>
          <a:stretch>
            <a:fillRect/>
          </a:stretch>
        </p:blipFill>
        <p:spPr>
          <a:xfrm>
            <a:off x="346153" y="1290110"/>
            <a:ext cx="7496365" cy="4933814"/>
          </a:xfrm>
          <a:prstGeom prst="rect">
            <a:avLst/>
          </a:prstGeom>
        </p:spPr>
      </p:pic>
      <p:sp>
        <p:nvSpPr>
          <p:cNvPr id="9" name="TextBox 8">
            <a:extLst>
              <a:ext uri="{FF2B5EF4-FFF2-40B4-BE49-F238E27FC236}">
                <a16:creationId xmlns:a16="http://schemas.microsoft.com/office/drawing/2014/main" id="{0379AED3-3B8D-9F50-3DB5-5137BA5CB806}"/>
              </a:ext>
            </a:extLst>
          </p:cNvPr>
          <p:cNvSpPr txBox="1"/>
          <p:nvPr/>
        </p:nvSpPr>
        <p:spPr>
          <a:xfrm>
            <a:off x="7987991" y="1956137"/>
            <a:ext cx="4086246" cy="2585323"/>
          </a:xfrm>
          <a:prstGeom prst="rect">
            <a:avLst/>
          </a:prstGeom>
          <a:noFill/>
        </p:spPr>
        <p:txBody>
          <a:bodyPr wrap="square">
            <a:spAutoFit/>
          </a:bodyPr>
          <a:lstStyle/>
          <a:p>
            <a:pPr>
              <a:buNone/>
            </a:pPr>
            <a:r>
              <a:rPr lang="en-IN" b="1" dirty="0"/>
              <a:t>Analysis:</a:t>
            </a:r>
            <a:endParaRPr lang="en-IN" dirty="0"/>
          </a:p>
          <a:p>
            <a:pPr marL="342900" lvl="0" indent="-342900">
              <a:buFont typeface="Arial" panose="020B0604020202020204" pitchFamily="34" charset="0"/>
              <a:buChar char="•"/>
            </a:pPr>
            <a:r>
              <a:rPr lang="en-IN" dirty="0" err="1"/>
              <a:t>Analyzed</a:t>
            </a:r>
            <a:r>
              <a:rPr lang="en-IN" dirty="0"/>
              <a:t> relationships between numerical agricultural variables. </a:t>
            </a:r>
          </a:p>
          <a:p>
            <a:pPr marL="342900" lvl="0" indent="-342900">
              <a:buFont typeface="Arial" panose="020B0604020202020204" pitchFamily="34" charset="0"/>
              <a:buChar char="•"/>
            </a:pPr>
            <a:r>
              <a:rPr lang="en-IN" dirty="0"/>
              <a:t>Identified positive and negative correlations. </a:t>
            </a:r>
          </a:p>
          <a:p>
            <a:pPr>
              <a:buNone/>
            </a:pPr>
            <a:r>
              <a:rPr lang="en-IN" b="1" dirty="0"/>
              <a:t>Insight:</a:t>
            </a:r>
            <a:endParaRPr lang="en-IN" dirty="0"/>
          </a:p>
          <a:p>
            <a:pPr marL="342900" lvl="0" indent="-342900">
              <a:buFont typeface="Arial" panose="020B0604020202020204" pitchFamily="34" charset="0"/>
              <a:buChar char="•"/>
            </a:pPr>
            <a:r>
              <a:rPr lang="en-IN" dirty="0"/>
              <a:t>Helps understand which factors are related to agricultural performance. </a:t>
            </a:r>
          </a:p>
        </p:txBody>
      </p:sp>
    </p:spTree>
    <p:extLst>
      <p:ext uri="{BB962C8B-B14F-4D97-AF65-F5344CB8AC3E}">
        <p14:creationId xmlns:p14="http://schemas.microsoft.com/office/powerpoint/2010/main" val="11668413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1D00C425-CA76-4CE4-8A11-411342163A64}"/>
              </a:ext>
            </a:extLst>
          </p:cNvPr>
          <p:cNvSpPr txBox="1"/>
          <p:nvPr/>
        </p:nvSpPr>
        <p:spPr>
          <a:xfrm>
            <a:off x="454601" y="1275371"/>
            <a:ext cx="9042689" cy="2585323"/>
          </a:xfrm>
          <a:prstGeom prst="rect">
            <a:avLst/>
          </a:prstGeom>
          <a:noFill/>
        </p:spPr>
        <p:txBody>
          <a:bodyPr wrap="square">
            <a:spAutoFit/>
          </a:bodyPr>
          <a:lstStyle/>
          <a:p>
            <a:pPr>
              <a:buNone/>
            </a:pPr>
            <a:r>
              <a:rPr lang="en-IN" dirty="0"/>
              <a:t>The project can be further improved by:</a:t>
            </a:r>
          </a:p>
          <a:p>
            <a:pPr>
              <a:buNone/>
            </a:pPr>
            <a:endParaRPr lang="en-IN" dirty="0"/>
          </a:p>
          <a:p>
            <a:pPr marL="342900" lvl="0" indent="-342900">
              <a:buFont typeface="Arial" panose="020B0604020202020204" pitchFamily="34" charset="0"/>
              <a:buChar char="•"/>
            </a:pPr>
            <a:r>
              <a:rPr lang="en-IN" dirty="0"/>
              <a:t>Developing Machine Learning models for crop yield prediction. </a:t>
            </a:r>
          </a:p>
          <a:p>
            <a:pPr marL="342900" lvl="0" indent="-342900">
              <a:buFont typeface="Arial" panose="020B0604020202020204" pitchFamily="34" charset="0"/>
              <a:buChar char="•"/>
            </a:pPr>
            <a:r>
              <a:rPr lang="en-IN" dirty="0"/>
              <a:t>Integrating real-time weather data. </a:t>
            </a:r>
          </a:p>
          <a:p>
            <a:pPr marL="342900" lvl="0" indent="-342900">
              <a:buFont typeface="Arial" panose="020B0604020202020204" pitchFamily="34" charset="0"/>
              <a:buChar char="•"/>
            </a:pPr>
            <a:r>
              <a:rPr lang="en-IN" dirty="0"/>
              <a:t>Using IoT sensors for soil and environmental monitoring. </a:t>
            </a:r>
          </a:p>
          <a:p>
            <a:pPr marL="342900" lvl="0" indent="-342900">
              <a:buFont typeface="Arial" panose="020B0604020202020204" pitchFamily="34" charset="0"/>
              <a:buChar char="•"/>
            </a:pPr>
            <a:r>
              <a:rPr lang="en-IN" dirty="0"/>
              <a:t>Developing smart irrigation recommendations. </a:t>
            </a:r>
          </a:p>
          <a:p>
            <a:pPr marL="342900" lvl="0" indent="-342900">
              <a:buFont typeface="Arial" panose="020B0604020202020204" pitchFamily="34" charset="0"/>
              <a:buChar char="•"/>
            </a:pPr>
            <a:r>
              <a:rPr lang="en-IN" dirty="0"/>
              <a:t>Creating crop recommendation systems. </a:t>
            </a:r>
          </a:p>
          <a:p>
            <a:pPr marL="342900" lvl="0" indent="-342900">
              <a:buFont typeface="Arial" panose="020B0604020202020204" pitchFamily="34" charset="0"/>
              <a:buChar char="•"/>
            </a:pPr>
            <a:r>
              <a:rPr lang="en-IN" dirty="0"/>
              <a:t>Building an interactive dashboard using Power BI or </a:t>
            </a:r>
            <a:r>
              <a:rPr lang="en-IN" dirty="0" err="1"/>
              <a:t>Streamlit</a:t>
            </a:r>
            <a:r>
              <a:rPr lang="en-IN" dirty="0"/>
              <a:t>. </a:t>
            </a:r>
          </a:p>
          <a:p>
            <a:pPr marL="342900" lvl="0" indent="-342900">
              <a:buFont typeface="Arial" panose="020B0604020202020204" pitchFamily="34" charset="0"/>
              <a:buChar char="•"/>
            </a:pPr>
            <a:r>
              <a:rPr lang="en-IN" dirty="0"/>
              <a:t>Supporting better seasonal agricultural planning using predictive analytics.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BB386E8-3DCA-8521-A912-41FBF4174A05}"/>
              </a:ext>
            </a:extLst>
          </p:cNvPr>
          <p:cNvPicPr>
            <a:picLocks noChangeAspect="1"/>
          </p:cNvPicPr>
          <p:nvPr/>
        </p:nvPicPr>
        <p:blipFill>
          <a:blip r:embed="rId3"/>
          <a:stretch>
            <a:fillRect/>
          </a:stretch>
        </p:blipFill>
        <p:spPr>
          <a:xfrm>
            <a:off x="602673" y="1436575"/>
            <a:ext cx="8749145" cy="5158426"/>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1411</TotalTime>
  <Words>609</Words>
  <Application>Microsoft Office PowerPoint</Application>
  <PresentationFormat>Widescreen</PresentationFormat>
  <Paragraphs>81</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Seasonal Agriculture Performance Analysis :  This project focuses on analyzing agricultural data collected across different seasons, geographical areas and farming conditions. The dataset includes information related to: 1.Crop and farm details 2.Rainfall and environmental conditions 3. Temperature and humidity 4.Water usage and irrigation methods 5.Soil and fertilizer information 6. Crop yield and production 7.Revenue, cost and profit  Project Approach :  Data Collection → Data Cleaning → Data Analysis → Seasonal Comparison → Visualization → Insights &amp; Recommendations </vt:lpstr>
      <vt:lpstr>WHO ARE THE END USERS?</vt:lpstr>
      <vt:lpstr>Technology Used</vt:lpstr>
      <vt:lpstr>RESULTS : </vt:lpstr>
      <vt:lpstr>RESULTS :</vt:lpstr>
      <vt:lpstr>RESULTS </vt:lpstr>
      <vt:lpstr>RESULTS </vt:lpstr>
      <vt:lpstr>RESULTS </vt:lpstr>
      <vt:lpstr>RESULTS</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Shraddha Dange</cp:lastModifiedBy>
  <cp:revision>101</cp:revision>
  <dcterms:created xsi:type="dcterms:W3CDTF">2021-07-11T13:13:15Z</dcterms:created>
  <dcterms:modified xsi:type="dcterms:W3CDTF">2026-09-08T18:37:39Z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